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Linux Biolinum" panose="020B0604020202020204" charset="0"/>
      <p:regular r:id="rId9"/>
    </p:embeddedFont>
    <p:embeddedFont>
      <p:font typeface="Linux Biolinum Bold"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3628336" y="-2739838"/>
            <a:ext cx="7537076" cy="7256937"/>
          </a:xfrm>
          <a:custGeom>
            <a:avLst/>
            <a:gdLst/>
            <a:ahLst/>
            <a:cxnLst/>
            <a:rect l="l" t="t" r="r" b="b"/>
            <a:pathLst>
              <a:path w="7537076" h="7256937">
                <a:moveTo>
                  <a:pt x="0" y="0"/>
                </a:moveTo>
                <a:lnTo>
                  <a:pt x="7537076" y="0"/>
                </a:lnTo>
                <a:lnTo>
                  <a:pt x="7537076" y="7256937"/>
                </a:lnTo>
                <a:lnTo>
                  <a:pt x="0" y="725693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3" name="Freeform 3"/>
          <p:cNvSpPr/>
          <p:nvPr/>
        </p:nvSpPr>
        <p:spPr>
          <a:xfrm rot="-5400000">
            <a:off x="14659532" y="5764695"/>
            <a:ext cx="7256937" cy="6987210"/>
          </a:xfrm>
          <a:custGeom>
            <a:avLst/>
            <a:gdLst/>
            <a:ahLst/>
            <a:cxnLst/>
            <a:rect l="l" t="t" r="r" b="b"/>
            <a:pathLst>
              <a:path w="7256937" h="6987210">
                <a:moveTo>
                  <a:pt x="0" y="0"/>
                </a:moveTo>
                <a:lnTo>
                  <a:pt x="7256936" y="0"/>
                </a:lnTo>
                <a:lnTo>
                  <a:pt x="7256936" y="6987210"/>
                </a:lnTo>
                <a:lnTo>
                  <a:pt x="0" y="69872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4" name="TextBox 4"/>
          <p:cNvSpPr txBox="1"/>
          <p:nvPr/>
        </p:nvSpPr>
        <p:spPr>
          <a:xfrm>
            <a:off x="3906203" y="3216275"/>
            <a:ext cx="10750660" cy="4159249"/>
          </a:xfrm>
          <a:prstGeom prst="rect">
            <a:avLst/>
          </a:prstGeom>
        </p:spPr>
        <p:txBody>
          <a:bodyPr lIns="0" tIns="0" rIns="0" bIns="0" rtlCol="0" anchor="t">
            <a:spAutoFit/>
          </a:bodyPr>
          <a:lstStyle/>
          <a:p>
            <a:pPr algn="ctr">
              <a:lnSpc>
                <a:spcPts val="15999"/>
              </a:lnSpc>
            </a:pPr>
            <a:r>
              <a:rPr lang="en-US" sz="15999" b="1">
                <a:solidFill>
                  <a:srgbClr val="91612F"/>
                </a:solidFill>
                <a:latin typeface="Linux Biolinum Bold"/>
                <a:ea typeface="Linux Biolinum Bold"/>
                <a:cs typeface="Linux Biolinum Bold"/>
                <a:sym typeface="Linux Biolinum Bold"/>
              </a:rPr>
              <a:t>Notre plateforme</a:t>
            </a:r>
          </a:p>
        </p:txBody>
      </p:sp>
      <p:sp>
        <p:nvSpPr>
          <p:cNvPr id="5" name="Freeform 5"/>
          <p:cNvSpPr/>
          <p:nvPr/>
        </p:nvSpPr>
        <p:spPr>
          <a:xfrm rot="-10800000" flipH="1">
            <a:off x="-662519" y="4657168"/>
            <a:ext cx="1691219" cy="4627715"/>
          </a:xfrm>
          <a:custGeom>
            <a:avLst/>
            <a:gdLst/>
            <a:ahLst/>
            <a:cxnLst/>
            <a:rect l="l" t="t" r="r" b="b"/>
            <a:pathLst>
              <a:path w="1691219" h="4627715">
                <a:moveTo>
                  <a:pt x="1691219" y="0"/>
                </a:moveTo>
                <a:lnTo>
                  <a:pt x="0" y="0"/>
                </a:lnTo>
                <a:lnTo>
                  <a:pt x="0" y="4627715"/>
                </a:lnTo>
                <a:lnTo>
                  <a:pt x="1691219" y="4627715"/>
                </a:lnTo>
                <a:lnTo>
                  <a:pt x="1691219"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a:off x="-1253844" y="7492036"/>
            <a:ext cx="4565087" cy="4498686"/>
          </a:xfrm>
          <a:custGeom>
            <a:avLst/>
            <a:gdLst/>
            <a:ahLst/>
            <a:cxnLst/>
            <a:rect l="l" t="t" r="r" b="b"/>
            <a:pathLst>
              <a:path w="4565087" h="4498686">
                <a:moveTo>
                  <a:pt x="0" y="0"/>
                </a:moveTo>
                <a:lnTo>
                  <a:pt x="4565088" y="0"/>
                </a:lnTo>
                <a:lnTo>
                  <a:pt x="4565088" y="4498686"/>
                </a:lnTo>
                <a:lnTo>
                  <a:pt x="0" y="449868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FR"/>
          </a:p>
        </p:txBody>
      </p:sp>
      <p:sp>
        <p:nvSpPr>
          <p:cNvPr id="7" name="Freeform 7"/>
          <p:cNvSpPr/>
          <p:nvPr/>
        </p:nvSpPr>
        <p:spPr>
          <a:xfrm flipH="1">
            <a:off x="17259300" y="1002117"/>
            <a:ext cx="1691219" cy="4627715"/>
          </a:xfrm>
          <a:custGeom>
            <a:avLst/>
            <a:gdLst/>
            <a:ahLst/>
            <a:cxnLst/>
            <a:rect l="l" t="t" r="r" b="b"/>
            <a:pathLst>
              <a:path w="1691219" h="4627715">
                <a:moveTo>
                  <a:pt x="1691219" y="0"/>
                </a:moveTo>
                <a:lnTo>
                  <a:pt x="0" y="0"/>
                </a:lnTo>
                <a:lnTo>
                  <a:pt x="0" y="4627715"/>
                </a:lnTo>
                <a:lnTo>
                  <a:pt x="1691219" y="4627715"/>
                </a:lnTo>
                <a:lnTo>
                  <a:pt x="1691219"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8" name="Freeform 8"/>
          <p:cNvSpPr/>
          <p:nvPr/>
        </p:nvSpPr>
        <p:spPr>
          <a:xfrm>
            <a:off x="15197449" y="-1360712"/>
            <a:ext cx="4565087" cy="4498686"/>
          </a:xfrm>
          <a:custGeom>
            <a:avLst/>
            <a:gdLst/>
            <a:ahLst/>
            <a:cxnLst/>
            <a:rect l="l" t="t" r="r" b="b"/>
            <a:pathLst>
              <a:path w="4565087" h="4498686">
                <a:moveTo>
                  <a:pt x="0" y="0"/>
                </a:moveTo>
                <a:lnTo>
                  <a:pt x="4565087" y="0"/>
                </a:lnTo>
                <a:lnTo>
                  <a:pt x="4565087" y="4498685"/>
                </a:lnTo>
                <a:lnTo>
                  <a:pt x="0" y="449868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F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2" name="Group 2"/>
          <p:cNvGrpSpPr/>
          <p:nvPr/>
        </p:nvGrpSpPr>
        <p:grpSpPr>
          <a:xfrm>
            <a:off x="5729981" y="3826202"/>
            <a:ext cx="21938877" cy="6282365"/>
            <a:chOff x="0" y="0"/>
            <a:chExt cx="29251836" cy="8376487"/>
          </a:xfrm>
        </p:grpSpPr>
        <p:sp>
          <p:nvSpPr>
            <p:cNvPr id="3" name="TextBox 3"/>
            <p:cNvSpPr txBox="1"/>
            <p:nvPr/>
          </p:nvSpPr>
          <p:spPr>
            <a:xfrm>
              <a:off x="0" y="352425"/>
              <a:ext cx="29251836" cy="3397123"/>
            </a:xfrm>
            <a:prstGeom prst="rect">
              <a:avLst/>
            </a:prstGeom>
          </p:spPr>
          <p:txBody>
            <a:bodyPr lIns="0" tIns="0" rIns="0" bIns="0" rtlCol="0" anchor="t">
              <a:spAutoFit/>
            </a:bodyPr>
            <a:lstStyle/>
            <a:p>
              <a:pPr algn="l">
                <a:lnSpc>
                  <a:spcPts val="18464"/>
                </a:lnSpc>
              </a:pPr>
              <a:r>
                <a:rPr lang="en-US" sz="18464">
                  <a:solidFill>
                    <a:srgbClr val="91612F"/>
                  </a:solidFill>
                  <a:latin typeface="Linux Biolinum"/>
                  <a:ea typeface="Linux Biolinum"/>
                  <a:cs typeface="Linux Biolinum"/>
                  <a:sym typeface="Linux Biolinum"/>
                </a:rPr>
                <a:t>VENDO</a:t>
              </a:r>
            </a:p>
          </p:txBody>
        </p:sp>
        <p:sp>
          <p:nvSpPr>
            <p:cNvPr id="4" name="TextBox 4"/>
            <p:cNvSpPr txBox="1"/>
            <p:nvPr/>
          </p:nvSpPr>
          <p:spPr>
            <a:xfrm>
              <a:off x="0" y="7151030"/>
              <a:ext cx="29251836" cy="1225457"/>
            </a:xfrm>
            <a:prstGeom prst="rect">
              <a:avLst/>
            </a:prstGeom>
          </p:spPr>
          <p:txBody>
            <a:bodyPr lIns="0" tIns="0" rIns="0" bIns="0" rtlCol="0" anchor="t">
              <a:spAutoFit/>
            </a:bodyPr>
            <a:lstStyle/>
            <a:p>
              <a:pPr algn="l">
                <a:lnSpc>
                  <a:spcPts val="7747"/>
                </a:lnSpc>
              </a:pPr>
              <a:endParaRPr/>
            </a:p>
          </p:txBody>
        </p:sp>
      </p:grpSp>
      <p:sp>
        <p:nvSpPr>
          <p:cNvPr id="5" name="Freeform 5"/>
          <p:cNvSpPr/>
          <p:nvPr/>
        </p:nvSpPr>
        <p:spPr>
          <a:xfrm rot="-3518030">
            <a:off x="7704445" y="-4449083"/>
            <a:ext cx="7256937" cy="6987210"/>
          </a:xfrm>
          <a:custGeom>
            <a:avLst/>
            <a:gdLst/>
            <a:ahLst/>
            <a:cxnLst/>
            <a:rect l="l" t="t" r="r" b="b"/>
            <a:pathLst>
              <a:path w="7256937" h="6987210">
                <a:moveTo>
                  <a:pt x="0" y="0"/>
                </a:moveTo>
                <a:lnTo>
                  <a:pt x="7256936" y="0"/>
                </a:lnTo>
                <a:lnTo>
                  <a:pt x="7256936" y="6987210"/>
                </a:lnTo>
                <a:lnTo>
                  <a:pt x="0" y="69872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6" name="Freeform 6"/>
          <p:cNvSpPr/>
          <p:nvPr/>
        </p:nvSpPr>
        <p:spPr>
          <a:xfrm rot="-10800000" flipH="1">
            <a:off x="-222130" y="-248092"/>
            <a:ext cx="1691219" cy="4627715"/>
          </a:xfrm>
          <a:custGeom>
            <a:avLst/>
            <a:gdLst/>
            <a:ahLst/>
            <a:cxnLst/>
            <a:rect l="l" t="t" r="r" b="b"/>
            <a:pathLst>
              <a:path w="1691219" h="4627715">
                <a:moveTo>
                  <a:pt x="1691219" y="0"/>
                </a:moveTo>
                <a:lnTo>
                  <a:pt x="0" y="0"/>
                </a:lnTo>
                <a:lnTo>
                  <a:pt x="0" y="4627715"/>
                </a:lnTo>
                <a:lnTo>
                  <a:pt x="1691219" y="4627715"/>
                </a:lnTo>
                <a:lnTo>
                  <a:pt x="169121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7" name="Freeform 7"/>
          <p:cNvSpPr/>
          <p:nvPr/>
        </p:nvSpPr>
        <p:spPr>
          <a:xfrm>
            <a:off x="623479" y="-1169548"/>
            <a:ext cx="3583276" cy="3531156"/>
          </a:xfrm>
          <a:custGeom>
            <a:avLst/>
            <a:gdLst/>
            <a:ahLst/>
            <a:cxnLst/>
            <a:rect l="l" t="t" r="r" b="b"/>
            <a:pathLst>
              <a:path w="3583276" h="3531156">
                <a:moveTo>
                  <a:pt x="0" y="0"/>
                </a:moveTo>
                <a:lnTo>
                  <a:pt x="3583277" y="0"/>
                </a:lnTo>
                <a:lnTo>
                  <a:pt x="3583277" y="3531156"/>
                </a:lnTo>
                <a:lnTo>
                  <a:pt x="0" y="35311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a:off x="11686487" y="8137172"/>
            <a:ext cx="3605116" cy="3552678"/>
          </a:xfrm>
          <a:custGeom>
            <a:avLst/>
            <a:gdLst/>
            <a:ahLst/>
            <a:cxnLst/>
            <a:rect l="l" t="t" r="r" b="b"/>
            <a:pathLst>
              <a:path w="3605116" h="3552678">
                <a:moveTo>
                  <a:pt x="0" y="0"/>
                </a:moveTo>
                <a:lnTo>
                  <a:pt x="3605115" y="0"/>
                </a:lnTo>
                <a:lnTo>
                  <a:pt x="3605115" y="3552678"/>
                </a:lnTo>
                <a:lnTo>
                  <a:pt x="0" y="355267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3" name="Freeform 3"/>
          <p:cNvSpPr/>
          <p:nvPr/>
        </p:nvSpPr>
        <p:spPr>
          <a:xfrm>
            <a:off x="11398735" y="3266569"/>
            <a:ext cx="6408969" cy="4870603"/>
          </a:xfrm>
          <a:custGeom>
            <a:avLst/>
            <a:gdLst/>
            <a:ahLst/>
            <a:cxnLst/>
            <a:rect l="l" t="t" r="r" b="b"/>
            <a:pathLst>
              <a:path w="6408969" h="4870603">
                <a:moveTo>
                  <a:pt x="0" y="0"/>
                </a:moveTo>
                <a:lnTo>
                  <a:pt x="6408969" y="0"/>
                </a:lnTo>
                <a:lnTo>
                  <a:pt x="6408969" y="4870603"/>
                </a:lnTo>
                <a:lnTo>
                  <a:pt x="0" y="4870603"/>
                </a:lnTo>
                <a:lnTo>
                  <a:pt x="0" y="0"/>
                </a:lnTo>
                <a:close/>
              </a:path>
            </a:pathLst>
          </a:custGeom>
          <a:blipFill>
            <a:blip r:embed="rId3"/>
            <a:stretch>
              <a:fillRect l="-17253" r="-17253"/>
            </a:stretch>
          </a:blipFill>
        </p:spPr>
        <p:txBody>
          <a:bodyPr/>
          <a:lstStyle/>
          <a:p>
            <a:endParaRPr lang="fr-FR"/>
          </a:p>
        </p:txBody>
      </p:sp>
      <p:sp>
        <p:nvSpPr>
          <p:cNvPr id="4" name="TextBox 4"/>
          <p:cNvSpPr txBox="1"/>
          <p:nvPr/>
        </p:nvSpPr>
        <p:spPr>
          <a:xfrm>
            <a:off x="1516711" y="987194"/>
            <a:ext cx="14593526" cy="1209675"/>
          </a:xfrm>
          <a:prstGeom prst="rect">
            <a:avLst/>
          </a:prstGeom>
        </p:spPr>
        <p:txBody>
          <a:bodyPr lIns="0" tIns="0" rIns="0" bIns="0" rtlCol="0" anchor="t">
            <a:spAutoFit/>
          </a:bodyPr>
          <a:lstStyle/>
          <a:p>
            <a:pPr algn="ctr">
              <a:lnSpc>
                <a:spcPts val="9000"/>
              </a:lnSpc>
            </a:pPr>
            <a:r>
              <a:rPr lang="en-US" sz="9000" b="1">
                <a:solidFill>
                  <a:srgbClr val="91612F"/>
                </a:solidFill>
                <a:latin typeface="Linux Biolinum Bold"/>
                <a:ea typeface="Linux Biolinum Bold"/>
                <a:cs typeface="Linux Biolinum Bold"/>
                <a:sym typeface="Linux Biolinum Bold"/>
              </a:rPr>
              <a:t>le nom de notre plateforme </a:t>
            </a:r>
          </a:p>
        </p:txBody>
      </p:sp>
      <p:sp>
        <p:nvSpPr>
          <p:cNvPr id="5" name="TextBox 5"/>
          <p:cNvSpPr txBox="1"/>
          <p:nvPr/>
        </p:nvSpPr>
        <p:spPr>
          <a:xfrm>
            <a:off x="1199578" y="2969598"/>
            <a:ext cx="9348742" cy="5521697"/>
          </a:xfrm>
          <a:prstGeom prst="rect">
            <a:avLst/>
          </a:prstGeom>
        </p:spPr>
        <p:txBody>
          <a:bodyPr lIns="0" tIns="0" rIns="0" bIns="0" rtlCol="0" anchor="t">
            <a:spAutoFit/>
          </a:bodyPr>
          <a:lstStyle/>
          <a:p>
            <a:pPr algn="just">
              <a:lnSpc>
                <a:spcPts val="3639"/>
              </a:lnSpc>
            </a:pPr>
            <a:r>
              <a:rPr lang="en-US" sz="3639" b="1" spc="181">
                <a:solidFill>
                  <a:srgbClr val="91612F"/>
                </a:solidFill>
                <a:latin typeface="Linux Biolinum Bold"/>
                <a:ea typeface="Linux Biolinum Bold"/>
                <a:cs typeface="Linux Biolinum Bold"/>
                <a:sym typeface="Linux Biolinum Bold"/>
              </a:rPr>
              <a:t>Nous avons choisi le nom VENDO en nous inspirant de l’idée de la vente, de l’achat et des annonces. Le nom est court, facile à retenir et moderne. Pour le logo, nous avons combiné les notions de recherche, de choix et de découverte, représentées par la cible et la loupe, avec le symbole du produit au centre. Cela reflète l’objectif du site : aider l’utilisateur à trouver les annonces et les produits qu’il recherche et à faire son choix.</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14077249" y="7123355"/>
            <a:ext cx="7256937" cy="6987210"/>
          </a:xfrm>
          <a:custGeom>
            <a:avLst/>
            <a:gdLst/>
            <a:ahLst/>
            <a:cxnLst/>
            <a:rect l="l" t="t" r="r" b="b"/>
            <a:pathLst>
              <a:path w="7256937" h="6987210">
                <a:moveTo>
                  <a:pt x="0" y="0"/>
                </a:moveTo>
                <a:lnTo>
                  <a:pt x="7256936" y="0"/>
                </a:lnTo>
                <a:lnTo>
                  <a:pt x="7256936" y="6987210"/>
                </a:lnTo>
                <a:lnTo>
                  <a:pt x="0" y="69872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3" name="Freeform 3"/>
          <p:cNvSpPr/>
          <p:nvPr/>
        </p:nvSpPr>
        <p:spPr>
          <a:xfrm flipH="1">
            <a:off x="17259300" y="888630"/>
            <a:ext cx="1691219" cy="4627715"/>
          </a:xfrm>
          <a:custGeom>
            <a:avLst/>
            <a:gdLst/>
            <a:ahLst/>
            <a:cxnLst/>
            <a:rect l="l" t="t" r="r" b="b"/>
            <a:pathLst>
              <a:path w="1691219" h="4627715">
                <a:moveTo>
                  <a:pt x="1691219" y="0"/>
                </a:moveTo>
                <a:lnTo>
                  <a:pt x="0" y="0"/>
                </a:lnTo>
                <a:lnTo>
                  <a:pt x="0" y="4627715"/>
                </a:lnTo>
                <a:lnTo>
                  <a:pt x="1691219" y="4627715"/>
                </a:lnTo>
                <a:lnTo>
                  <a:pt x="169121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4" name="Freeform 4"/>
          <p:cNvSpPr/>
          <p:nvPr/>
        </p:nvSpPr>
        <p:spPr>
          <a:xfrm>
            <a:off x="15197449" y="-1360712"/>
            <a:ext cx="4565087" cy="4498686"/>
          </a:xfrm>
          <a:custGeom>
            <a:avLst/>
            <a:gdLst/>
            <a:ahLst/>
            <a:cxnLst/>
            <a:rect l="l" t="t" r="r" b="b"/>
            <a:pathLst>
              <a:path w="4565087" h="4498686">
                <a:moveTo>
                  <a:pt x="0" y="0"/>
                </a:moveTo>
                <a:lnTo>
                  <a:pt x="4565087" y="0"/>
                </a:lnTo>
                <a:lnTo>
                  <a:pt x="4565087" y="4498685"/>
                </a:lnTo>
                <a:lnTo>
                  <a:pt x="0" y="44986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grpSp>
        <p:nvGrpSpPr>
          <p:cNvPr id="5" name="Group 5"/>
          <p:cNvGrpSpPr/>
          <p:nvPr/>
        </p:nvGrpSpPr>
        <p:grpSpPr>
          <a:xfrm>
            <a:off x="3662037" y="730561"/>
            <a:ext cx="10550075" cy="2761183"/>
            <a:chOff x="0" y="0"/>
            <a:chExt cx="14066767" cy="3681578"/>
          </a:xfrm>
        </p:grpSpPr>
        <p:sp>
          <p:nvSpPr>
            <p:cNvPr id="6" name="TextBox 6"/>
            <p:cNvSpPr txBox="1"/>
            <p:nvPr/>
          </p:nvSpPr>
          <p:spPr>
            <a:xfrm>
              <a:off x="0" y="142875"/>
              <a:ext cx="14066767" cy="2819303"/>
            </a:xfrm>
            <a:prstGeom prst="rect">
              <a:avLst/>
            </a:prstGeom>
          </p:spPr>
          <p:txBody>
            <a:bodyPr lIns="0" tIns="0" rIns="0" bIns="0" rtlCol="0" anchor="t">
              <a:spAutoFit/>
            </a:bodyPr>
            <a:lstStyle/>
            <a:p>
              <a:pPr algn="ctr">
                <a:lnSpc>
                  <a:spcPts val="7965"/>
                </a:lnSpc>
              </a:pPr>
              <a:r>
                <a:rPr lang="en-US" sz="7965" b="1">
                  <a:solidFill>
                    <a:srgbClr val="91612F"/>
                  </a:solidFill>
                  <a:latin typeface="Linux Biolinum Bold"/>
                  <a:ea typeface="Linux Biolinum Bold"/>
                  <a:cs typeface="Linux Biolinum Bold"/>
                  <a:sym typeface="Linux Biolinum Bold"/>
                </a:rPr>
                <a:t>Le choix du slogan de VENDO</a:t>
              </a:r>
            </a:p>
          </p:txBody>
        </p:sp>
        <p:sp>
          <p:nvSpPr>
            <p:cNvPr id="7" name="TextBox 7"/>
            <p:cNvSpPr txBox="1"/>
            <p:nvPr/>
          </p:nvSpPr>
          <p:spPr>
            <a:xfrm>
              <a:off x="0" y="3466523"/>
              <a:ext cx="14066767" cy="215054"/>
            </a:xfrm>
            <a:prstGeom prst="rect">
              <a:avLst/>
            </a:prstGeom>
          </p:spPr>
          <p:txBody>
            <a:bodyPr lIns="0" tIns="0" rIns="0" bIns="0" rtlCol="0" anchor="t">
              <a:spAutoFit/>
            </a:bodyPr>
            <a:lstStyle/>
            <a:p>
              <a:pPr algn="l">
                <a:lnSpc>
                  <a:spcPts val="1100"/>
                </a:lnSpc>
              </a:pPr>
              <a:endParaRPr/>
            </a:p>
          </p:txBody>
        </p:sp>
      </p:grpSp>
      <p:sp>
        <p:nvSpPr>
          <p:cNvPr id="8" name="TextBox 8"/>
          <p:cNvSpPr txBox="1"/>
          <p:nvPr/>
        </p:nvSpPr>
        <p:spPr>
          <a:xfrm>
            <a:off x="2542853" y="3864348"/>
            <a:ext cx="12172148" cy="3995791"/>
          </a:xfrm>
          <a:prstGeom prst="rect">
            <a:avLst/>
          </a:prstGeom>
        </p:spPr>
        <p:txBody>
          <a:bodyPr lIns="0" tIns="0" rIns="0" bIns="0" rtlCol="0" anchor="t">
            <a:spAutoFit/>
          </a:bodyPr>
          <a:lstStyle/>
          <a:p>
            <a:pPr algn="just">
              <a:lnSpc>
                <a:spcPts val="3939"/>
              </a:lnSpc>
            </a:pPr>
            <a:r>
              <a:rPr lang="en-US" sz="3939" b="1" spc="196">
                <a:solidFill>
                  <a:srgbClr val="91612F"/>
                </a:solidFill>
                <a:latin typeface="Linux Biolinum Bold"/>
                <a:ea typeface="Linux Biolinum Bold"/>
                <a:cs typeface="Linux Biolinum Bold"/>
                <a:sym typeface="Linux Biolinum Bold"/>
              </a:rPr>
              <a:t>Nous avons choisi le slogan « Ton marché, ton choix, ta voix » parce qu’il représente de manière simple et directe l’idée du site : l’utilisateur est libre de découvrir les annonces, de choisir ce qui lui convient et d’exprimer ses besoins et ses préférences. Ce slogan met en avant les valeurs principales de VENDO : le marché, le choix et la voix de l’utilisateur.</a:t>
            </a:r>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10800000" flipH="1">
            <a:off x="-274331" y="4630585"/>
            <a:ext cx="1691219" cy="4627715"/>
          </a:xfrm>
          <a:custGeom>
            <a:avLst/>
            <a:gdLst/>
            <a:ahLst/>
            <a:cxnLst/>
            <a:rect l="l" t="t" r="r" b="b"/>
            <a:pathLst>
              <a:path w="1691219" h="4627715">
                <a:moveTo>
                  <a:pt x="1691220" y="0"/>
                </a:moveTo>
                <a:lnTo>
                  <a:pt x="0" y="0"/>
                </a:lnTo>
                <a:lnTo>
                  <a:pt x="0" y="4627715"/>
                </a:lnTo>
                <a:lnTo>
                  <a:pt x="1691220" y="4627715"/>
                </a:lnTo>
                <a:lnTo>
                  <a:pt x="169122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3" name="Freeform 3"/>
          <p:cNvSpPr/>
          <p:nvPr/>
        </p:nvSpPr>
        <p:spPr>
          <a:xfrm>
            <a:off x="-1711265" y="7837093"/>
            <a:ext cx="4565087" cy="4498686"/>
          </a:xfrm>
          <a:custGeom>
            <a:avLst/>
            <a:gdLst/>
            <a:ahLst/>
            <a:cxnLst/>
            <a:rect l="l" t="t" r="r" b="b"/>
            <a:pathLst>
              <a:path w="4565087" h="4498686">
                <a:moveTo>
                  <a:pt x="0" y="0"/>
                </a:moveTo>
                <a:lnTo>
                  <a:pt x="4565088" y="0"/>
                </a:lnTo>
                <a:lnTo>
                  <a:pt x="4565088" y="4498686"/>
                </a:lnTo>
                <a:lnTo>
                  <a:pt x="0" y="44986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4" name="Freeform 4"/>
          <p:cNvSpPr/>
          <p:nvPr/>
        </p:nvSpPr>
        <p:spPr>
          <a:xfrm flipH="1">
            <a:off x="16978942" y="1028700"/>
            <a:ext cx="1691219" cy="4627715"/>
          </a:xfrm>
          <a:custGeom>
            <a:avLst/>
            <a:gdLst/>
            <a:ahLst/>
            <a:cxnLst/>
            <a:rect l="l" t="t" r="r" b="b"/>
            <a:pathLst>
              <a:path w="1691219" h="4627715">
                <a:moveTo>
                  <a:pt x="1691219" y="0"/>
                </a:moveTo>
                <a:lnTo>
                  <a:pt x="0" y="0"/>
                </a:lnTo>
                <a:lnTo>
                  <a:pt x="0" y="4627715"/>
                </a:lnTo>
                <a:lnTo>
                  <a:pt x="1691219" y="4627715"/>
                </a:lnTo>
                <a:lnTo>
                  <a:pt x="169121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5" name="Freeform 5"/>
          <p:cNvSpPr/>
          <p:nvPr/>
        </p:nvSpPr>
        <p:spPr>
          <a:xfrm>
            <a:off x="15542008" y="-1220643"/>
            <a:ext cx="4565087" cy="4498686"/>
          </a:xfrm>
          <a:custGeom>
            <a:avLst/>
            <a:gdLst/>
            <a:ahLst/>
            <a:cxnLst/>
            <a:rect l="l" t="t" r="r" b="b"/>
            <a:pathLst>
              <a:path w="4565087" h="4498686">
                <a:moveTo>
                  <a:pt x="0" y="0"/>
                </a:moveTo>
                <a:lnTo>
                  <a:pt x="4565087" y="0"/>
                </a:lnTo>
                <a:lnTo>
                  <a:pt x="4565087" y="4498686"/>
                </a:lnTo>
                <a:lnTo>
                  <a:pt x="0" y="44986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6" name="Freeform 6"/>
          <p:cNvSpPr/>
          <p:nvPr/>
        </p:nvSpPr>
        <p:spPr>
          <a:xfrm>
            <a:off x="2433938" y="1406733"/>
            <a:ext cx="13896578" cy="7851567"/>
          </a:xfrm>
          <a:custGeom>
            <a:avLst/>
            <a:gdLst/>
            <a:ahLst/>
            <a:cxnLst/>
            <a:rect l="l" t="t" r="r" b="b"/>
            <a:pathLst>
              <a:path w="13896578" h="7851567">
                <a:moveTo>
                  <a:pt x="0" y="0"/>
                </a:moveTo>
                <a:lnTo>
                  <a:pt x="13896578" y="0"/>
                </a:lnTo>
                <a:lnTo>
                  <a:pt x="13896578" y="7851567"/>
                </a:lnTo>
                <a:lnTo>
                  <a:pt x="0" y="7851567"/>
                </a:lnTo>
                <a:lnTo>
                  <a:pt x="0" y="0"/>
                </a:lnTo>
                <a:close/>
              </a:path>
            </a:pathLst>
          </a:custGeom>
          <a:blipFill>
            <a:blip r:embed="rId4"/>
            <a:stretch>
              <a:fillRect/>
            </a:stretch>
          </a:blipFill>
        </p:spPr>
        <p:txBody>
          <a:bodyPr/>
          <a:lstStyle/>
          <a:p>
            <a:endParaRPr lang="fr-F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2043424" y="-3858818"/>
            <a:ext cx="7256937" cy="6987210"/>
          </a:xfrm>
          <a:custGeom>
            <a:avLst/>
            <a:gdLst/>
            <a:ahLst/>
            <a:cxnLst/>
            <a:rect l="l" t="t" r="r" b="b"/>
            <a:pathLst>
              <a:path w="7256937" h="6987210">
                <a:moveTo>
                  <a:pt x="0" y="0"/>
                </a:moveTo>
                <a:lnTo>
                  <a:pt x="7256937" y="0"/>
                </a:lnTo>
                <a:lnTo>
                  <a:pt x="7256937" y="6987210"/>
                </a:lnTo>
                <a:lnTo>
                  <a:pt x="0" y="69872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3" name="Freeform 3"/>
          <p:cNvSpPr/>
          <p:nvPr/>
        </p:nvSpPr>
        <p:spPr>
          <a:xfrm rot="-5400000" flipH="1">
            <a:off x="15572615" y="-1736148"/>
            <a:ext cx="1691219" cy="4627715"/>
          </a:xfrm>
          <a:custGeom>
            <a:avLst/>
            <a:gdLst/>
            <a:ahLst/>
            <a:cxnLst/>
            <a:rect l="l" t="t" r="r" b="b"/>
            <a:pathLst>
              <a:path w="1691219" h="4627715">
                <a:moveTo>
                  <a:pt x="1691219" y="0"/>
                </a:moveTo>
                <a:lnTo>
                  <a:pt x="0" y="0"/>
                </a:lnTo>
                <a:lnTo>
                  <a:pt x="0" y="4627714"/>
                </a:lnTo>
                <a:lnTo>
                  <a:pt x="1691219" y="4627714"/>
                </a:lnTo>
                <a:lnTo>
                  <a:pt x="169121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4" name="Freeform 4"/>
          <p:cNvSpPr/>
          <p:nvPr/>
        </p:nvSpPr>
        <p:spPr>
          <a:xfrm>
            <a:off x="16418225" y="-267901"/>
            <a:ext cx="3583276" cy="3531156"/>
          </a:xfrm>
          <a:custGeom>
            <a:avLst/>
            <a:gdLst/>
            <a:ahLst/>
            <a:cxnLst/>
            <a:rect l="l" t="t" r="r" b="b"/>
            <a:pathLst>
              <a:path w="3583276" h="3531156">
                <a:moveTo>
                  <a:pt x="0" y="0"/>
                </a:moveTo>
                <a:lnTo>
                  <a:pt x="3583276" y="0"/>
                </a:lnTo>
                <a:lnTo>
                  <a:pt x="3583276" y="3531156"/>
                </a:lnTo>
                <a:lnTo>
                  <a:pt x="0" y="35311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5" name="TextBox 5"/>
          <p:cNvSpPr txBox="1"/>
          <p:nvPr/>
        </p:nvSpPr>
        <p:spPr>
          <a:xfrm>
            <a:off x="3382781" y="2424573"/>
            <a:ext cx="12172148" cy="5976991"/>
          </a:xfrm>
          <a:prstGeom prst="rect">
            <a:avLst/>
          </a:prstGeom>
        </p:spPr>
        <p:txBody>
          <a:bodyPr lIns="0" tIns="0" rIns="0" bIns="0" rtlCol="0" anchor="t">
            <a:spAutoFit/>
          </a:bodyPr>
          <a:lstStyle/>
          <a:p>
            <a:pPr algn="just">
              <a:lnSpc>
                <a:spcPts val="3939"/>
              </a:lnSpc>
            </a:pPr>
            <a:endParaRPr/>
          </a:p>
          <a:p>
            <a:pPr algn="just">
              <a:lnSpc>
                <a:spcPts val="3939"/>
              </a:lnSpc>
            </a:pPr>
            <a:endParaRPr/>
          </a:p>
          <a:p>
            <a:pPr algn="just">
              <a:lnSpc>
                <a:spcPts val="3939"/>
              </a:lnSpc>
            </a:pPr>
            <a:r>
              <a:rPr lang="en-US" sz="3939" b="1" spc="196">
                <a:solidFill>
                  <a:srgbClr val="91612F"/>
                </a:solidFill>
                <a:latin typeface="Linux Biolinum Bold"/>
                <a:ea typeface="Linux Biolinum Bold"/>
                <a:cs typeface="Linux Biolinum Bold"/>
                <a:sym typeface="Linux Biolinum Bold"/>
              </a:rPr>
              <a:t>Le logo et le slogan « Ton marché, ton choix, ta voix » sont adaptés à notre petite plateforme d’annonces, car ils représentent clairement son objectif : faciliter la découverte des annonces et permettre à chaque utilisateur de trouver ce qui correspond à ses besoins. Le design simple et moderne du logo le rend facilement reconnaissable, tandis que le slogan met en avant le marché, le choix et la liberté de l’utilisateur.</a:t>
            </a: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4071022" y="4043183"/>
            <a:ext cx="8526421" cy="2375042"/>
          </a:xfrm>
          <a:prstGeom prst="rect">
            <a:avLst/>
          </a:prstGeom>
        </p:spPr>
        <p:txBody>
          <a:bodyPr lIns="0" tIns="0" rIns="0" bIns="0" rtlCol="0" anchor="t">
            <a:spAutoFit/>
          </a:bodyPr>
          <a:lstStyle/>
          <a:p>
            <a:pPr algn="l">
              <a:lnSpc>
                <a:spcPts val="17755"/>
              </a:lnSpc>
            </a:pPr>
            <a:r>
              <a:rPr lang="en-US" sz="17755">
                <a:solidFill>
                  <a:srgbClr val="91612F"/>
                </a:solidFill>
                <a:latin typeface="Linux Biolinum"/>
                <a:ea typeface="Linux Biolinum"/>
                <a:cs typeface="Linux Biolinum"/>
                <a:sym typeface="Linux Biolinum"/>
              </a:rPr>
              <a:t>MERCI</a:t>
            </a:r>
          </a:p>
        </p:txBody>
      </p:sp>
      <p:sp>
        <p:nvSpPr>
          <p:cNvPr id="3" name="Freeform 3"/>
          <p:cNvSpPr/>
          <p:nvPr/>
        </p:nvSpPr>
        <p:spPr>
          <a:xfrm rot="-10723850">
            <a:off x="13554742" y="-3183869"/>
            <a:ext cx="7256937" cy="6987210"/>
          </a:xfrm>
          <a:custGeom>
            <a:avLst/>
            <a:gdLst/>
            <a:ahLst/>
            <a:cxnLst/>
            <a:rect l="l" t="t" r="r" b="b"/>
            <a:pathLst>
              <a:path w="7256937" h="6987210">
                <a:moveTo>
                  <a:pt x="0" y="0"/>
                </a:moveTo>
                <a:lnTo>
                  <a:pt x="7256937" y="0"/>
                </a:lnTo>
                <a:lnTo>
                  <a:pt x="7256937" y="6987210"/>
                </a:lnTo>
                <a:lnTo>
                  <a:pt x="0" y="69872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4" name="Freeform 4"/>
          <p:cNvSpPr/>
          <p:nvPr/>
        </p:nvSpPr>
        <p:spPr>
          <a:xfrm rot="-10800000">
            <a:off x="11440369" y="-2249343"/>
            <a:ext cx="4565087" cy="4498686"/>
          </a:xfrm>
          <a:custGeom>
            <a:avLst/>
            <a:gdLst/>
            <a:ahLst/>
            <a:cxnLst/>
            <a:rect l="l" t="t" r="r" b="b"/>
            <a:pathLst>
              <a:path w="4565087" h="4498686">
                <a:moveTo>
                  <a:pt x="0" y="0"/>
                </a:moveTo>
                <a:lnTo>
                  <a:pt x="4565087" y="0"/>
                </a:lnTo>
                <a:lnTo>
                  <a:pt x="4565087" y="4498686"/>
                </a:lnTo>
                <a:lnTo>
                  <a:pt x="0" y="44986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254</Words>
  <Application>Microsoft Office PowerPoint</Application>
  <PresentationFormat>Personnalisé</PresentationFormat>
  <Paragraphs>10</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Arial</vt:lpstr>
      <vt:lpstr>Linux Biolinum Bold</vt:lpstr>
      <vt:lpstr>Calibri</vt:lpstr>
      <vt:lpstr>Linux Biolinum</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Notre plateforme</dc:title>
  <cp:lastModifiedBy>15509</cp:lastModifiedBy>
  <cp:revision>2</cp:revision>
  <dcterms:created xsi:type="dcterms:W3CDTF">2006-08-16T00:00:00Z</dcterms:created>
  <dcterms:modified xsi:type="dcterms:W3CDTF">2026-09-24T21:26:50Z</dcterms:modified>
  <dc:identifier>DAHWJMHdkDE</dc:identifier>
</cp:coreProperties>
</file>